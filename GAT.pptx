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81" r:id="rId5"/>
    <p:sldId id="259" r:id="rId6"/>
    <p:sldId id="283" r:id="rId7"/>
    <p:sldId id="270" r:id="rId8"/>
    <p:sldId id="286" r:id="rId9"/>
    <p:sldId id="285" r:id="rId10"/>
    <p:sldId id="284" r:id="rId11"/>
    <p:sldId id="261" r:id="rId12"/>
    <p:sldId id="269" r:id="rId13"/>
  </p:sldIdLst>
  <p:sldSz cx="12192000" cy="6858000"/>
  <p:notesSz cx="6858000" cy="9144000"/>
  <p:embeddedFontLst>
    <p:embeddedFont>
      <p:font typeface="Merriweather"/>
      <p:regular r:id="rId17"/>
    </p:embeddedFont>
    <p:embeddedFont>
      <p:font typeface="DM Sans"/>
      <p:regular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000000"/>
          </p15:clr>
        </p15:guide>
        <p15:guide id="2" pos="2829" userDrawn="1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2160"/>
        <p:guide pos="2829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font" Target="fonts/font2.fntdata"/><Relationship Id="rId17" Type="http://schemas.openxmlformats.org/officeDocument/2006/relationships/font" Target="fonts/font1.fntdata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2" name="Google Shape;82;p1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0" name="Google Shape;90;p2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/>
              <a:t>https://www.who.int/news/item/14-03-2024-over-1-in-3-people-affected-by-neurological-conditions--the-leading-cause-of-illness-and-disability-worldwide</a:t>
            </a:r>
            <a:endParaRPr lang="en-US" altLang="en-US"/>
          </a:p>
        </p:txBody>
      </p:sp>
      <p:sp>
        <p:nvSpPr>
          <p:cNvPr id="134" name="Google Shape;134;p4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/>
              <a:t>P. Khan et al., "Machine Learning and Deep Learning Approaches for Brain Disease Diagnosis: Principles and Recent Advances," in IEEE Access, vol. 9, pp. 37622-37655, 2021, doi: 10.1109/ACCESS.2021.3062484.</a:t>
            </a:r>
            <a:endParaRPr lang="en-US" altLang="en-US"/>
          </a:p>
        </p:txBody>
      </p:sp>
      <p:sp>
        <p:nvSpPr>
          <p:cNvPr id="134" name="Google Shape;134;p4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/>
              <a:t>https://sdbif.org/whats-the-difference-between-all-the-different-head-scans/</a:t>
            </a:r>
            <a:endParaRPr lang="en-US" altLang="en-US"/>
          </a:p>
        </p:txBody>
      </p:sp>
      <p:sp>
        <p:nvSpPr>
          <p:cNvPr id="172" name="Google Shape;172;p7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/>
              <a:t>https://sdbif.org/whats-the-difference-between-all-the-different-head-scans/</a:t>
            </a:r>
            <a:endParaRPr lang="en-US" altLang="en-US"/>
          </a:p>
        </p:txBody>
      </p:sp>
      <p:sp>
        <p:nvSpPr>
          <p:cNvPr id="172" name="Google Shape;172;p7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/>
              <a:t>P. Khan et al., "Machine Learning and Deep Learning Approaches for Brain Disease Diagnosis: Principles and Recent Advances," in IEEE Access, vol. 9, pp. 37622-37655, 2021, doi: 10.1109/ACCESS.2021.3062484.</a:t>
            </a:r>
            <a:endParaRPr lang="en-US" altLang="en-US"/>
          </a:p>
        </p:txBody>
      </p:sp>
      <p:sp>
        <p:nvSpPr>
          <p:cNvPr id="134" name="Google Shape;134;p4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/>
              <a:t>P. Khan et al., "Machine Learning and Deep Learning Approaches for Brain Disease Diagnosis: Principles and Recent Advances," in IEEE Access, vol. 9, pp. 37622-37655, 2021, doi: 10.1109/ACCESS.2021.3062484.</a:t>
            </a:r>
            <a:endParaRPr lang="en-US" altLang="en-US"/>
          </a:p>
        </p:txBody>
      </p:sp>
      <p:sp>
        <p:nvSpPr>
          <p:cNvPr id="134" name="Google Shape;134;p4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/>
              <a:t>https://www.researchgate.net/figure/Illustration-of-graph-theoretic-measures-In-the-context-of-brain-networks-in-this-study_fig1_353482746</a:t>
            </a:r>
            <a:endParaRPr lang="en-US" altLang="en-US"/>
          </a:p>
        </p:txBody>
      </p:sp>
      <p:sp>
        <p:nvSpPr>
          <p:cNvPr id="155" name="Google Shape;155;p6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/>
              <a:t>https://medlineplus.gov/braindiseases.html</a:t>
            </a:r>
            <a:endParaRPr lang="en-US" altLang="en-US"/>
          </a:p>
        </p:txBody>
      </p:sp>
      <p:sp>
        <p:nvSpPr>
          <p:cNvPr id="90" name="Google Shape;90;p2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Title and Content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Two Content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Comparison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3" name="Google Shape;43;p7"/>
          <p:cNvSpPr txBox="1"/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5" name="Google Shape;45;p7"/>
          <p:cNvSpPr txBox="1"/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Content with Caption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Picture with Caption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Title and Vertical Text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Vertical Title and Text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7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704020202020204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7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704020202020204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704020202020204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7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7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7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7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0.x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10.png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CF4"/>
        </a:solidFill>
        <a:effectLst/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1785461" y="2221259"/>
            <a:ext cx="8621077" cy="9131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Medical Diagnosis</a:t>
            </a:r>
            <a:endParaRPr lang="en-US" sz="5400" b="1" i="0" u="none" strike="noStrike" cap="none">
              <a:solidFill>
                <a:srgbClr val="003366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2714625" y="3166020"/>
            <a:ext cx="6762750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- Aryan Bharadwaj</a:t>
            </a:r>
            <a:endParaRPr lang="en-US" sz="1950" b="0" i="0" u="none" strike="noStrike" cap="none">
              <a:solidFill>
                <a:srgbClr val="005088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4491037" y="4190851"/>
            <a:ext cx="3209925" cy="3321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03366"/>
                </a:solidFill>
                <a:latin typeface="DM Sans"/>
                <a:ea typeface="DM Sans"/>
                <a:cs typeface="DM Sans"/>
                <a:sym typeface="DM Sans"/>
              </a:rPr>
              <a:t>Graph Neural Network Seminar</a:t>
            </a:r>
            <a:endParaRPr lang="en-US" sz="1350" b="1" i="0" u="none" strike="noStrike" cap="none">
              <a:solidFill>
                <a:srgbClr val="003366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>
          <a:xfrm>
            <a:off x="6553200" y="6356350"/>
            <a:ext cx="4828540" cy="365125"/>
          </a:xfrm>
        </p:spPr>
        <p:txBody>
          <a:bodyPr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CF4"/>
        </a:solidFill>
        <a:effectLst/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4"/>
          <p:cNvSpPr txBox="1"/>
          <p:nvPr/>
        </p:nvSpPr>
        <p:spPr>
          <a:xfrm>
            <a:off x="571500" y="571500"/>
            <a:ext cx="11601450" cy="5073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Objectives</a:t>
            </a:r>
            <a:endParaRPr lang="en-US" sz="3300" b="1" i="0" u="none" strike="noStrike" cap="none">
              <a:solidFill>
                <a:srgbClr val="003366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06" name="Google Shape;106;p14"/>
          <p:cNvSpPr/>
          <p:nvPr/>
        </p:nvSpPr>
        <p:spPr>
          <a:xfrm>
            <a:off x="571500" y="1190625"/>
            <a:ext cx="11049000" cy="28575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739140" y="1918335"/>
            <a:ext cx="10671175" cy="39801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Arial" panose="020B0704020202020204" pitchFamily="34" charset="0"/>
              <a:buChar char="•"/>
            </a:pPr>
            <a:r>
              <a:rPr lang="en-US" sz="2400">
                <a:sym typeface="+mn-ea"/>
              </a:rPr>
              <a:t>Diagnosis</a:t>
            </a:r>
            <a:endParaRPr lang="en-US" sz="2400">
              <a:sym typeface="+mn-ea"/>
            </a:endParaRPr>
          </a:p>
          <a:p>
            <a:pPr marL="285750" indent="-285750">
              <a:buFont typeface="Arial" panose="020B0704020202020204" pitchFamily="34" charset="0"/>
              <a:buChar char="•"/>
            </a:pPr>
            <a:r>
              <a:rPr lang="en-US" sz="2400"/>
              <a:t>The Brain </a:t>
            </a:r>
            <a:endParaRPr lang="en-US" sz="2400"/>
          </a:p>
          <a:p>
            <a:pPr marL="285750" indent="-285750">
              <a:buFont typeface="Arial" panose="020B0704020202020204" pitchFamily="34" charset="0"/>
              <a:buChar char="•"/>
            </a:pPr>
            <a:r>
              <a:rPr lang="en-US" sz="2400"/>
              <a:t>About the project</a:t>
            </a:r>
            <a:endParaRPr lang="en-US" sz="2400"/>
          </a:p>
          <a:p>
            <a:pPr marL="285750" indent="-285750">
              <a:buFont typeface="Arial" panose="020B0704020202020204" pitchFamily="34" charset="0"/>
              <a:buChar char="•"/>
            </a:pPr>
            <a:r>
              <a:rPr lang="en-US" sz="2400"/>
              <a:t>Results</a:t>
            </a:r>
            <a:endParaRPr lang="en-US" sz="2400"/>
          </a:p>
          <a:p>
            <a:pPr marL="285750" indent="-285750">
              <a:buFont typeface="Arial" panose="020B0704020202020204" pitchFamily="34" charset="0"/>
              <a:buChar char="•"/>
            </a:pPr>
            <a:endParaRPr lang="en-US" sz="240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>
          <a:xfrm>
            <a:off x="6553200" y="6356350"/>
            <a:ext cx="4857750" cy="365125"/>
          </a:xfrm>
        </p:spPr>
        <p:txBody>
          <a:bodyPr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CF4"/>
        </a:solidFill>
        <a:effectLst/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16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6"/>
          <p:cNvSpPr txBox="1"/>
          <p:nvPr/>
        </p:nvSpPr>
        <p:spPr>
          <a:xfrm>
            <a:off x="571500" y="2683222"/>
            <a:ext cx="5524500" cy="1615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0" b="1" i="0" u="none" strike="noStrike" cap="none">
                <a:solidFill>
                  <a:srgbClr val="003366"/>
                </a:solidFill>
                <a:latin typeface="DM Sans"/>
                <a:ea typeface="DM Sans"/>
                <a:cs typeface="DM Sans"/>
                <a:sym typeface="DM Sans"/>
              </a:rPr>
              <a:t>74%</a:t>
            </a:r>
            <a:endParaRPr lang="en-US" sz="10500" b="1" i="0" u="none" strike="noStrike" cap="none">
              <a:solidFill>
                <a:srgbClr val="003366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38" name="Google Shape;138;p16"/>
          <p:cNvSpPr txBox="1"/>
          <p:nvPr/>
        </p:nvSpPr>
        <p:spPr>
          <a:xfrm>
            <a:off x="571500" y="4016722"/>
            <a:ext cx="5524500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Global Deaths</a:t>
            </a:r>
            <a:endParaRPr lang="en-US" sz="1800" b="1" i="0" u="none" strike="noStrike" cap="none">
              <a:solidFill>
                <a:srgbClr val="005088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39" name="Google Shape;139;p16"/>
          <p:cNvSpPr txBox="1"/>
          <p:nvPr/>
        </p:nvSpPr>
        <p:spPr>
          <a:xfrm>
            <a:off x="571500" y="4483447"/>
            <a:ext cx="5524500" cy="4972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attributed to non-communicable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50" b="0" i="0" u="none" strike="noStrike" cap="non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chronic diseases </a:t>
            </a:r>
            <a:endParaRPr lang="en-US" sz="1350" b="0" i="0" u="none" strike="noStrike" cap="none">
              <a:solidFill>
                <a:srgbClr val="1E293B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40" name="Google Shape;140;p16"/>
          <p:cNvSpPr txBox="1"/>
          <p:nvPr/>
        </p:nvSpPr>
        <p:spPr>
          <a:xfrm>
            <a:off x="6096000" y="2683222"/>
            <a:ext cx="5524500" cy="1615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0" b="1" i="0" u="none" strike="noStrike" cap="none">
                <a:solidFill>
                  <a:srgbClr val="003366"/>
                </a:solidFill>
                <a:latin typeface="DM Sans"/>
                <a:ea typeface="DM Sans"/>
                <a:cs typeface="DM Sans"/>
                <a:sym typeface="DM Sans"/>
              </a:rPr>
              <a:t>&gt;3B</a:t>
            </a:r>
            <a:endParaRPr lang="en-US" sz="10500" b="1" i="0" u="none" strike="noStrike" cap="none">
              <a:solidFill>
                <a:srgbClr val="003366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41" name="Google Shape;141;p16"/>
          <p:cNvSpPr txBox="1"/>
          <p:nvPr/>
        </p:nvSpPr>
        <p:spPr>
          <a:xfrm>
            <a:off x="6096000" y="4016722"/>
            <a:ext cx="5524500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Neurological Cases</a:t>
            </a:r>
            <a:endParaRPr lang="en-US" sz="1800" b="1" i="0" u="none" strike="noStrike" cap="none">
              <a:solidFill>
                <a:srgbClr val="005088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42" name="Google Shape;142;p16"/>
          <p:cNvSpPr txBox="1"/>
          <p:nvPr/>
        </p:nvSpPr>
        <p:spPr>
          <a:xfrm>
            <a:off x="6096000" y="4483447"/>
            <a:ext cx="552450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of people currently living with a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50" b="0" i="0" u="none" strike="noStrike" cap="non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neurological condition worldwide.</a:t>
            </a:r>
            <a:endParaRPr lang="en-US" sz="1350" b="0" i="0" u="none" strike="noStrike" cap="none">
              <a:solidFill>
                <a:srgbClr val="1E293B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43" name="Google Shape;143;p16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The Massive Global Burden</a:t>
            </a:r>
            <a:endParaRPr lang="en-US" sz="3300" b="1" i="0" u="none" strike="noStrike" cap="none">
              <a:solidFill>
                <a:srgbClr val="003366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44" name="Google Shape;144;p16"/>
          <p:cNvSpPr/>
          <p:nvPr/>
        </p:nvSpPr>
        <p:spPr>
          <a:xfrm>
            <a:off x="571500" y="1190625"/>
            <a:ext cx="11049000" cy="28575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>
          <a:xfrm>
            <a:off x="6553200" y="6356350"/>
            <a:ext cx="5067300" cy="365125"/>
          </a:xfrm>
        </p:spPr>
        <p:txBody>
          <a:bodyPr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sp>
        <p:nvSpPr>
          <p:cNvPr id="1" name="Footer Placeholder 0"/>
          <p:cNvSpPr>
            <a:spLocks noGrp="1"/>
          </p:cNvSpPr>
          <p:nvPr>
            <p:ph type="ftr" idx="11"/>
          </p:nvPr>
        </p:nvSpPr>
        <p:spPr>
          <a:xfrm>
            <a:off x="570865" y="6356350"/>
            <a:ext cx="8002905" cy="365125"/>
          </a:xfrm>
        </p:spPr>
        <p:txBody>
          <a:bodyPr/>
          <a:p>
            <a:r>
              <a:rPr lang="en-US"/>
              <a:t>[1] </a:t>
            </a:r>
            <a:r>
              <a:t>https://www.who.int/news/item/14-03-2024-over-1-in-3-people-affected-by-neurological-conditions--the-leading-cause-of-illness-and-disability-worldwide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CF4"/>
        </a:solidFill>
        <a:effectLst/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6"/>
          <p:cNvSpPr txBox="1"/>
          <p:nvPr/>
        </p:nvSpPr>
        <p:spPr>
          <a:xfrm>
            <a:off x="571500" y="571500"/>
            <a:ext cx="11601450" cy="5073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Brain Diagnosis</a:t>
            </a:r>
            <a:endParaRPr lang="en-US" sz="3300" b="1" i="0" u="none" strike="noStrike" cap="none">
              <a:solidFill>
                <a:srgbClr val="003366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44" name="Google Shape;144;p16"/>
          <p:cNvSpPr/>
          <p:nvPr/>
        </p:nvSpPr>
        <p:spPr>
          <a:xfrm>
            <a:off x="571500" y="1190625"/>
            <a:ext cx="11049000" cy="28575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>
          <a:xfrm>
            <a:off x="6553200" y="6356350"/>
            <a:ext cx="5066665" cy="365125"/>
          </a:xfrm>
        </p:spPr>
        <p:txBody>
          <a:bodyPr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sp>
        <p:nvSpPr>
          <p:cNvPr id="1" name="Text Box 0"/>
          <p:cNvSpPr txBox="1"/>
          <p:nvPr/>
        </p:nvSpPr>
        <p:spPr>
          <a:xfrm>
            <a:off x="570865" y="1330960"/>
            <a:ext cx="11048365" cy="452310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altLang="zh-CN" sz="2400" b="1" u="sng">
                <a:latin typeface="Arial Bold" panose="020B0704020202020204" charset="0"/>
                <a:cs typeface="Arial Bold" panose="020B0704020202020204" charset="0"/>
              </a:rPr>
              <a:t>Definition:</a:t>
            </a:r>
            <a:r>
              <a:rPr lang="en-US" altLang="zh-CN" sz="2400"/>
              <a:t> is the clinical process of identifying and evaluating pathological conditions affecting the central nervous system using automated computational tools, statistical models, and neuroimaging data.</a:t>
            </a:r>
            <a:endParaRPr lang="en-US" altLang="zh-CN" sz="2400"/>
          </a:p>
          <a:p>
            <a:endParaRPr lang="en-US" altLang="zh-CN" sz="2400"/>
          </a:p>
          <a:p>
            <a:pPr marL="342900" indent="-342900">
              <a:buFont typeface="Arial" panose="020B0704020202020204" pitchFamily="34" charset="0"/>
              <a:buChar char="•"/>
            </a:pPr>
            <a:r>
              <a:rPr lang="en-US" altLang="zh-CN" sz="2400" b="1" u="sng">
                <a:latin typeface="Arial Bold" panose="020B0704020202020204" charset="0"/>
                <a:cs typeface="Arial Bold" panose="020B0704020202020204" charset="0"/>
              </a:rPr>
              <a:t>Reduces Global Mortality:</a:t>
            </a:r>
            <a:r>
              <a:rPr lang="en-US" altLang="zh-CN" sz="2400"/>
              <a:t> Brain disorders account for a massive, continuously growing percentage of global deaths, by early detection</a:t>
            </a:r>
            <a:endParaRPr lang="en-US" altLang="zh-CN" sz="2400"/>
          </a:p>
          <a:p>
            <a:pPr marL="342900" indent="-342900">
              <a:buFont typeface="Arial" panose="020B0704020202020204" pitchFamily="34" charset="0"/>
              <a:buChar char="•"/>
            </a:pPr>
            <a:r>
              <a:rPr lang="en-US" altLang="zh-CN" sz="2400" b="1" u="sng"/>
              <a:t>Manages Complex Pathologies:</a:t>
            </a:r>
            <a:r>
              <a:rPr lang="en-US" altLang="zh-CN" sz="2400" u="sng"/>
              <a:t> </a:t>
            </a:r>
            <a:r>
              <a:rPr lang="en-US" altLang="zh-CN" sz="2400"/>
              <a:t>Helps navigate complex, newly discovered variants of progressive neurological diseases.</a:t>
            </a:r>
            <a:endParaRPr lang="en-US" altLang="zh-CN" sz="2400"/>
          </a:p>
          <a:p>
            <a:pPr marL="342900" indent="-342900">
              <a:buFont typeface="Arial" panose="020B0704020202020204" pitchFamily="34" charset="0"/>
              <a:buChar char="•"/>
            </a:pPr>
            <a:r>
              <a:rPr lang="en-US" altLang="zh-CN" sz="2400" b="1" u="sng"/>
              <a:t>Improves Clinical Accuracy:</a:t>
            </a:r>
            <a:r>
              <a:rPr lang="en-US" altLang="zh-CN" sz="2400"/>
              <a:t> Precision analysis reduces diagnostic human errors across highly subtle brain changes.</a:t>
            </a:r>
            <a:endParaRPr lang="en-US" altLang="zh-CN" sz="2400"/>
          </a:p>
          <a:p>
            <a:pPr marL="342900" indent="-342900">
              <a:buFont typeface="Arial" panose="020B0704020202020204" pitchFamily="34" charset="0"/>
              <a:buChar char="•"/>
            </a:pPr>
            <a:r>
              <a:rPr lang="en-US" altLang="zh-CN" sz="2400" b="1" u="sng"/>
              <a:t>Enhances Patient Betterment:</a:t>
            </a:r>
            <a:r>
              <a:rPr lang="en-US" altLang="zh-CN" sz="2400" u="sng"/>
              <a:t> </a:t>
            </a:r>
            <a:r>
              <a:rPr lang="en-US" altLang="zh-CN" sz="2400"/>
              <a:t>Finding precise detection techniques directly elevates long-term healthcare outcomes and recovery.</a:t>
            </a:r>
            <a:endParaRPr lang="en-US" altLang="zh-CN" sz="2400"/>
          </a:p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>
          <a:xfrm>
            <a:off x="571500" y="6356350"/>
            <a:ext cx="7761605" cy="365125"/>
          </a:xfrm>
        </p:spPr>
        <p:txBody>
          <a:bodyPr/>
          <a:p>
            <a:r>
              <a:rPr lang="en-US"/>
              <a:t>[2] </a:t>
            </a:r>
            <a:r>
              <a:t>P. Khan et al., "Machine Learning and Deep Learning Approaches for Brain Disease Diagnosis: Principles and Recent Advances," in IEEE Access, vol. 9, pp. 37622-37655, 2021, doi: 10.1109/ACCESS.2021.3062484.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CF4"/>
        </a:solidFill>
        <a:effectLst/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p19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-1270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9"/>
          <p:cNvSpPr txBox="1"/>
          <p:nvPr/>
        </p:nvSpPr>
        <p:spPr>
          <a:xfrm>
            <a:off x="571500" y="571500"/>
            <a:ext cx="9798050" cy="5073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defRPr sz="3400" b="1"/>
            </a:pPr>
            <a:r>
              <a:rPr lang="en-US" sz="3300">
                <a:solidFill>
                  <a:schemeClr val="bg2"/>
                </a:solidFill>
                <a:sym typeface="+mn-ea"/>
              </a:rPr>
              <a:t>Types of Scans</a:t>
            </a:r>
            <a:endParaRPr lang="en-US" sz="3300" b="1" i="0" u="none" strike="noStrike" cap="none">
              <a:solidFill>
                <a:schemeClr val="bg2"/>
              </a:solidFill>
              <a:latin typeface="Merriweather"/>
              <a:ea typeface="Merriweather"/>
              <a:cs typeface="Merriweather"/>
              <a:sym typeface="+mn-ea"/>
            </a:endParaRPr>
          </a:p>
        </p:txBody>
      </p:sp>
      <p:sp>
        <p:nvSpPr>
          <p:cNvPr id="176" name="Google Shape;176;p19"/>
          <p:cNvSpPr/>
          <p:nvPr/>
        </p:nvSpPr>
        <p:spPr>
          <a:xfrm>
            <a:off x="571500" y="1190625"/>
            <a:ext cx="4953000" cy="28575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9"/>
          <p:cNvSpPr txBox="1"/>
          <p:nvPr/>
        </p:nvSpPr>
        <p:spPr>
          <a:xfrm>
            <a:off x="571500" y="1405255"/>
            <a:ext cx="10527665" cy="3110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85750" marR="0" lvl="0" indent="-28575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Arial" panose="020B0704020202020204" pitchFamily="34" charset="0"/>
              <a:buChar char="•"/>
            </a:pPr>
            <a:r>
              <a:rPr lang="en-US" altLang="en-US" sz="2400">
                <a:sym typeface="+mn-ea"/>
              </a:rPr>
              <a:t>Medical scans are diagnostic tools used to visualize the inside of the body. The four primary types:</a:t>
            </a:r>
            <a:endParaRPr lang="en-US" altLang="en-US" sz="2400"/>
          </a:p>
          <a:p>
            <a:pPr marL="457200" indent="-457200">
              <a:spcAft>
                <a:spcPts val="1000"/>
              </a:spcAft>
              <a:buFont typeface="+mj-lt"/>
              <a:buAutoNum type="romanLcPeriod"/>
              <a:defRPr sz="2400"/>
            </a:pPr>
            <a:r>
              <a:rPr lang="en-US" altLang="en-US" sz="2400"/>
              <a:t>X-ray</a:t>
            </a:r>
            <a:endParaRPr lang="en-US" altLang="en-US" sz="2400"/>
          </a:p>
          <a:p>
            <a:pPr marL="457200" indent="-457200">
              <a:spcAft>
                <a:spcPts val="1000"/>
              </a:spcAft>
              <a:buFont typeface="+mj-lt"/>
              <a:buAutoNum type="romanLcPeriod"/>
              <a:defRPr sz="2400"/>
            </a:pPr>
            <a:r>
              <a:rPr lang="en-US" altLang="en-US" sz="2400"/>
              <a:t>CT Scan</a:t>
            </a:r>
            <a:endParaRPr lang="en-US" altLang="en-US" sz="2400"/>
          </a:p>
          <a:p>
            <a:pPr marL="457200" indent="-457200">
              <a:spcAft>
                <a:spcPts val="1000"/>
              </a:spcAft>
              <a:buFont typeface="+mj-lt"/>
              <a:buAutoNum type="romanLcPeriod"/>
              <a:defRPr sz="2400"/>
            </a:pPr>
            <a:r>
              <a:rPr lang="en-US" altLang="en-US" sz="2400"/>
              <a:t>MRI</a:t>
            </a:r>
            <a:endParaRPr lang="en-US" altLang="en-US" sz="2400"/>
          </a:p>
          <a:p>
            <a:pPr marL="457200" indent="-457200">
              <a:spcAft>
                <a:spcPts val="1000"/>
              </a:spcAft>
              <a:buFont typeface="+mj-lt"/>
              <a:buAutoNum type="romanLcPeriod"/>
              <a:defRPr sz="2400"/>
            </a:pPr>
            <a:r>
              <a:rPr lang="en-US" altLang="en-US" sz="2400"/>
              <a:t>Ultrasound </a:t>
            </a:r>
            <a:endParaRPr lang="en-US" altLang="en-US" sz="2400"/>
          </a:p>
          <a:p>
            <a:pPr marL="457200" indent="-457200">
              <a:spcAft>
                <a:spcPts val="1000"/>
              </a:spcAft>
              <a:buFont typeface="+mj-lt"/>
              <a:buAutoNum type="romanLcPeriod"/>
              <a:defRPr sz="2400"/>
            </a:pPr>
            <a:r>
              <a:rPr lang="en-US" altLang="en-US" sz="2400"/>
              <a:t>PET</a:t>
            </a:r>
            <a:endParaRPr lang="en-US" altLang="en-US" sz="2400"/>
          </a:p>
          <a:p>
            <a:pPr marL="457200" indent="-457200">
              <a:spcAft>
                <a:spcPts val="1000"/>
              </a:spcAft>
              <a:buFont typeface="+mj-lt"/>
              <a:buAutoNum type="romanLcPeriod"/>
              <a:defRPr sz="2400"/>
            </a:pPr>
            <a:r>
              <a:rPr lang="en-US" altLang="en-US" sz="2400"/>
              <a:t>NIR</a:t>
            </a:r>
            <a:endParaRPr lang="en-US" altLang="en-US" sz="240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>
          <a:xfrm>
            <a:off x="6553200" y="6356350"/>
            <a:ext cx="4546600" cy="365125"/>
          </a:xfrm>
        </p:spPr>
        <p:txBody>
          <a:bodyPr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pic>
        <p:nvPicPr>
          <p:cNvPr id="6" name="Picture 5"/>
          <p:cNvPicPr/>
          <p:nvPr/>
        </p:nvPicPr>
        <p:blipFill>
          <a:blip r:embed="rId2"/>
          <a:stretch>
            <a:fillRect/>
          </a:stretch>
        </p:blipFill>
        <p:spPr>
          <a:xfrm>
            <a:off x="5730875" y="2561590"/>
            <a:ext cx="5085080" cy="3794760"/>
          </a:xfrm>
          <a:prstGeom prst="rect">
            <a:avLst/>
          </a:prstGeom>
        </p:spPr>
      </p:pic>
      <p:sp>
        <p:nvSpPr>
          <p:cNvPr id="1" name="Footer Placeholder 0"/>
          <p:cNvSpPr>
            <a:spLocks noGrp="1"/>
          </p:cNvSpPr>
          <p:nvPr>
            <p:ph type="ftr" idx="11"/>
          </p:nvPr>
        </p:nvSpPr>
        <p:spPr>
          <a:xfrm>
            <a:off x="691515" y="6356350"/>
            <a:ext cx="8822055" cy="365125"/>
          </a:xfrm>
        </p:spPr>
        <p:txBody>
          <a:bodyPr/>
          <a:p>
            <a:r>
              <a:rPr lang="en-US"/>
              <a:t>[3] </a:t>
            </a:r>
            <a:r>
              <a:t>https://sdbif.org/whats-the-difference-between-all-the-different-head-scans/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CF4"/>
        </a:solidFill>
        <a:effectLst/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p19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-1270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9"/>
          <p:cNvSpPr txBox="1"/>
          <p:nvPr/>
        </p:nvSpPr>
        <p:spPr>
          <a:xfrm>
            <a:off x="571500" y="571500"/>
            <a:ext cx="9798050" cy="5073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defRPr sz="3400" b="1"/>
            </a:pPr>
            <a:r>
              <a:rPr lang="en-US" sz="3300" b="1" i="0" u="none" strike="noStrike" cap="none">
                <a:solidFill>
                  <a:schemeClr val="bg2"/>
                </a:solidFill>
                <a:latin typeface="Merriweather"/>
                <a:ea typeface="Merriweather"/>
                <a:cs typeface="Merriweather"/>
                <a:sym typeface="+mn-ea"/>
              </a:rPr>
              <a:t>Why do we analyze?</a:t>
            </a:r>
            <a:endParaRPr lang="en-US" sz="3300" b="1" i="0" u="none" strike="noStrike" cap="none">
              <a:solidFill>
                <a:schemeClr val="bg2"/>
              </a:solidFill>
              <a:latin typeface="Merriweather"/>
              <a:ea typeface="Merriweather"/>
              <a:cs typeface="Merriweather"/>
              <a:sym typeface="+mn-ea"/>
            </a:endParaRPr>
          </a:p>
        </p:txBody>
      </p:sp>
      <p:sp>
        <p:nvSpPr>
          <p:cNvPr id="176" name="Google Shape;176;p19"/>
          <p:cNvSpPr/>
          <p:nvPr/>
        </p:nvSpPr>
        <p:spPr>
          <a:xfrm>
            <a:off x="571500" y="1190625"/>
            <a:ext cx="4953000" cy="28575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9"/>
          <p:cNvSpPr txBox="1"/>
          <p:nvPr/>
        </p:nvSpPr>
        <p:spPr>
          <a:xfrm>
            <a:off x="571500" y="1405255"/>
            <a:ext cx="10527665" cy="3110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85750" marR="0" lvl="0" indent="-28575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Arial" panose="020B0704020202020204" pitchFamily="34" charset="0"/>
              <a:buChar char="•"/>
            </a:pPr>
            <a:r>
              <a:rPr lang="en-US" altLang="en-US" sz="1800" b="1" u="sng">
                <a:latin typeface="Arial Bold" panose="020B0704020202020204" charset="0"/>
                <a:cs typeface="Arial Bold" panose="020B0704020202020204" charset="0"/>
              </a:rPr>
              <a:t>Sociodemographic &amp; Behavioral Data:</a:t>
            </a:r>
            <a:r>
              <a:rPr lang="en-US" altLang="en-US" sz="1800"/>
              <a:t> General background variables including age, sex, socioeconomic markers, and critical health behaviors (e.g., sleep patterns, diet, and lifestyle habits).</a:t>
            </a:r>
            <a:endParaRPr lang="en-US" altLang="en-US" sz="1800"/>
          </a:p>
          <a:p>
            <a:pPr marL="285750" marR="0" lvl="0" indent="-28575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Arial" panose="020B0704020202020204" pitchFamily="34" charset="0"/>
              <a:buChar char="•"/>
            </a:pPr>
            <a:r>
              <a:rPr lang="en-US" altLang="en-US" sz="1800" b="1" u="sng">
                <a:latin typeface="Arial Bold" panose="020B0704020202020204" charset="0"/>
                <a:cs typeface="Arial Bold" panose="020B0704020202020204" charset="0"/>
              </a:rPr>
              <a:t>Clinical Medical History: </a:t>
            </a:r>
            <a:r>
              <a:rPr lang="en-US" altLang="en-US" sz="1800"/>
              <a:t>Comprehensive records tracking personal medical histories, physical health examinations, and specific disease-related symptoms.</a:t>
            </a:r>
            <a:endParaRPr lang="en-US" altLang="en-US" sz="1800"/>
          </a:p>
          <a:p>
            <a:pPr marL="285750" marR="0" lvl="0" indent="-28575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Arial" panose="020B0704020202020204" pitchFamily="34" charset="0"/>
              <a:buChar char="•"/>
            </a:pPr>
            <a:r>
              <a:rPr lang="en-US" altLang="en-US" sz="1800" b="1" u="sng">
                <a:latin typeface="Arial Bold" panose="020B0704020202020204" charset="0"/>
                <a:cs typeface="Arial Bold" panose="020B0704020202020204" charset="0"/>
              </a:rPr>
              <a:t>Cognitive &amp; Psychological Assessments: </a:t>
            </a:r>
            <a:r>
              <a:rPr lang="en-US" altLang="en-US" sz="1800"/>
              <a:t>Standardized neurocognitive test scores alongside tracking scales for depression, behavioral changes, psychological updates, and caregiver burden.</a:t>
            </a:r>
            <a:endParaRPr lang="en-US" altLang="en-US" sz="1800"/>
          </a:p>
          <a:p>
            <a:pPr marL="285750" marR="0" lvl="0" indent="-28575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Arial" panose="020B0704020202020204" pitchFamily="34" charset="0"/>
              <a:buChar char="•"/>
            </a:pPr>
            <a:r>
              <a:rPr lang="en-US" altLang="en-US" sz="1800" b="1" u="sng">
                <a:latin typeface="Arial Bold" panose="020B0704020202020204" charset="0"/>
                <a:cs typeface="Arial Bold" panose="020B0704020202020204" charset="0"/>
              </a:rPr>
              <a:t>Biomarkers &amp; Lab Diagnostics:</a:t>
            </a:r>
            <a:r>
              <a:rPr lang="en-US" altLang="en-US" sz="1800"/>
              <a:t> Laboratory results gathered from direct physical processing, including comprehensive blood panels and sensory assessment data (such as olfactory performance tests).</a:t>
            </a:r>
            <a:endParaRPr lang="en-US" altLang="en-US" sz="1800"/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Arial" panose="020B0704020202020204" pitchFamily="34" charset="0"/>
              <a:buNone/>
            </a:pPr>
            <a:endParaRPr lang="en-US" altLang="en-US" sz="180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>
          <a:xfrm>
            <a:off x="6553200" y="6356350"/>
            <a:ext cx="4545965" cy="365125"/>
          </a:xfrm>
        </p:spPr>
        <p:txBody>
          <a:bodyPr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sp>
        <p:nvSpPr>
          <p:cNvPr id="1" name="Footer Placeholder 0"/>
          <p:cNvSpPr>
            <a:spLocks noGrp="1"/>
          </p:cNvSpPr>
          <p:nvPr>
            <p:ph type="ftr" idx="11"/>
          </p:nvPr>
        </p:nvSpPr>
        <p:spPr>
          <a:xfrm>
            <a:off x="691515" y="6356350"/>
            <a:ext cx="7796530" cy="365125"/>
          </a:xfrm>
        </p:spPr>
        <p:txBody>
          <a:bodyPr/>
          <a:p>
            <a:r>
              <a:rPr lang="en-US" altLang="en-US"/>
              <a:t>[4] https://pmc.ncbi.nlm.nih.gov/articles/PMC12727072/</a:t>
            </a:r>
            <a:endParaRPr lang="en-US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CF4"/>
        </a:solidFill>
        <a:effectLst/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6"/>
          <p:cNvSpPr txBox="1"/>
          <p:nvPr/>
        </p:nvSpPr>
        <p:spPr>
          <a:xfrm>
            <a:off x="571500" y="571500"/>
            <a:ext cx="11601450" cy="5073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Why Machine Learning?</a:t>
            </a:r>
            <a:endParaRPr lang="en-US" sz="3300" b="1" i="0" u="none" strike="noStrike" cap="none">
              <a:solidFill>
                <a:srgbClr val="003366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44" name="Google Shape;144;p16"/>
          <p:cNvSpPr/>
          <p:nvPr/>
        </p:nvSpPr>
        <p:spPr>
          <a:xfrm>
            <a:off x="571500" y="1190625"/>
            <a:ext cx="11049000" cy="28575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>
          <a:xfrm>
            <a:off x="6553200" y="6356350"/>
            <a:ext cx="5198110" cy="365125"/>
          </a:xfrm>
        </p:spPr>
        <p:txBody>
          <a:bodyPr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>
          <a:xfrm>
            <a:off x="238125" y="6356350"/>
            <a:ext cx="8094980" cy="365125"/>
          </a:xfrm>
        </p:spPr>
        <p:txBody>
          <a:bodyPr/>
          <a:p>
            <a:r>
              <a:rPr lang="en-US"/>
              <a:t>[2] </a:t>
            </a:r>
            <a:r>
              <a:t>P. Khan et al., "Machine Learning and Deep Learning Approaches for Brain Disease Diagnosis: Principles and Recent Advances," in IEEE Access, vol. 9, pp. 37622-37655, 2021, doi: 10.1109/ACCESS.2021.3062484.</a:t>
            </a:r>
          </a:p>
        </p:txBody>
      </p:sp>
      <p:sp>
        <p:nvSpPr>
          <p:cNvPr id="1" name="Text Box 0"/>
          <p:cNvSpPr txBox="1"/>
          <p:nvPr/>
        </p:nvSpPr>
        <p:spPr>
          <a:xfrm>
            <a:off x="571500" y="1398905"/>
            <a:ext cx="11048365" cy="45231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>
              <a:buFont typeface="Arial" panose="020B0704020202020204" pitchFamily="34" charset="0"/>
              <a:buChar char="•"/>
            </a:pPr>
            <a:r>
              <a:rPr lang="en-US" altLang="en-US" sz="2200" b="1" u="sng">
                <a:latin typeface="Arial Bold" panose="020B0704020202020204" charset="0"/>
                <a:cs typeface="Arial Bold" panose="020B0704020202020204" charset="0"/>
              </a:rPr>
              <a:t>Processes Massive Dimensions:</a:t>
            </a:r>
            <a:r>
              <a:rPr lang="en-US" altLang="en-US" sz="2200"/>
              <a:t> Computes millions of complex neuroimaging voxels simultaneously, surpassing human capability.</a:t>
            </a:r>
            <a:endParaRPr lang="en-US" altLang="en-US" sz="2200"/>
          </a:p>
          <a:p>
            <a:pPr marL="342900" indent="-342900">
              <a:buFont typeface="Arial" panose="020B0704020202020204" pitchFamily="34" charset="0"/>
              <a:buChar char="•"/>
            </a:pPr>
            <a:endParaRPr lang="en-US" altLang="en-US" sz="2200"/>
          </a:p>
          <a:p>
            <a:pPr marL="342900" indent="-342900">
              <a:buFont typeface="Arial" panose="020B0704020202020204" pitchFamily="34" charset="0"/>
              <a:buChar char="•"/>
            </a:pPr>
            <a:r>
              <a:rPr lang="en-US" altLang="en-US" sz="2200" b="1" u="sng">
                <a:latin typeface="Arial Bold" panose="020B0704020202020204" charset="0"/>
                <a:cs typeface="Arial Bold" panose="020B0704020202020204" charset="0"/>
              </a:rPr>
              <a:t>Detects Hidden Patterns</a:t>
            </a:r>
            <a:r>
              <a:rPr lang="en-US" altLang="en-US" sz="2200" u="sng"/>
              <a:t>: </a:t>
            </a:r>
            <a:r>
              <a:rPr lang="en-US" altLang="en-US" sz="2200"/>
              <a:t>Identifies subtle, non-linear structural variations years before physical symptoms appear, </a:t>
            </a:r>
            <a:r>
              <a:rPr lang="en-US" altLang="en-US" sz="2200">
                <a:sym typeface="+mn-ea"/>
              </a:rPr>
              <a:t>allowing faster, life-saving therapeutic interventions.</a:t>
            </a:r>
            <a:endParaRPr lang="en-US" altLang="en-US" sz="2200"/>
          </a:p>
          <a:p>
            <a:pPr marL="342900" indent="-342900">
              <a:buFont typeface="Arial" panose="020B0704020202020204" pitchFamily="34" charset="0"/>
              <a:buChar char="•"/>
            </a:pPr>
            <a:endParaRPr lang="en-US" altLang="en-US" sz="2200" u="sng"/>
          </a:p>
          <a:p>
            <a:pPr marL="342900" indent="-342900">
              <a:buFont typeface="Arial" panose="020B0704020202020204" pitchFamily="34" charset="0"/>
              <a:buChar char="•"/>
            </a:pPr>
            <a:r>
              <a:rPr lang="en-US" altLang="en-US" sz="2200" b="1" u="sng">
                <a:latin typeface="Arial Bold" panose="020B0704020202020204" charset="0"/>
                <a:cs typeface="Arial Bold" panose="020B0704020202020204" charset="0"/>
              </a:rPr>
              <a:t>Eliminates Human Subjectivity:</a:t>
            </a:r>
            <a:r>
              <a:rPr lang="en-US" altLang="en-US" sz="2200"/>
              <a:t> Provides objective, automated diagnostic recommendations to eliminate fatigue and clinical bias.</a:t>
            </a:r>
            <a:endParaRPr lang="en-US" altLang="en-US" sz="2200"/>
          </a:p>
          <a:p>
            <a:pPr marL="342900" indent="-342900">
              <a:buFont typeface="Arial" panose="020B0704020202020204" pitchFamily="34" charset="0"/>
              <a:buChar char="•"/>
            </a:pPr>
            <a:endParaRPr lang="en-US" altLang="en-US" sz="2200"/>
          </a:p>
          <a:p>
            <a:pPr marL="342900" indent="-342900">
              <a:buFont typeface="Arial" panose="020B0704020202020204" pitchFamily="34" charset="0"/>
              <a:buChar char="•"/>
            </a:pPr>
            <a:r>
              <a:rPr lang="en-US" altLang="en-US" sz="2200" b="1" u="sng">
                <a:latin typeface="Arial Bold" panose="020B0704020202020204" charset="0"/>
                <a:cs typeface="Arial Bold" panose="020B0704020202020204" charset="0"/>
              </a:rPr>
              <a:t>Tracks Interconnected Dynamics:</a:t>
            </a:r>
            <a:r>
              <a:rPr lang="en-US" altLang="en-US" sz="2200"/>
              <a:t> Maps complex, widespread network disruptions rather than isolated regional damage.</a:t>
            </a:r>
            <a:endParaRPr lang="en-US" altLang="en-US" sz="2200"/>
          </a:p>
          <a:p>
            <a:pPr marL="342900" indent="-342900">
              <a:buFont typeface="Arial" panose="020B0704020202020204" pitchFamily="34" charset="0"/>
              <a:buChar char="•"/>
            </a:pPr>
            <a:endParaRPr lang="en-US" altLang="en-US" sz="24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CF4"/>
        </a:solidFill>
        <a:effectLst/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6"/>
          <p:cNvSpPr txBox="1"/>
          <p:nvPr/>
        </p:nvSpPr>
        <p:spPr>
          <a:xfrm>
            <a:off x="571500" y="571500"/>
            <a:ext cx="11601450" cy="5073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Brain Diagnosis</a:t>
            </a:r>
            <a:endParaRPr lang="en-US" sz="3300" b="1" i="0" u="none" strike="noStrike" cap="none">
              <a:solidFill>
                <a:srgbClr val="003366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44" name="Google Shape;144;p16"/>
          <p:cNvSpPr/>
          <p:nvPr/>
        </p:nvSpPr>
        <p:spPr>
          <a:xfrm>
            <a:off x="571500" y="1190625"/>
            <a:ext cx="11049000" cy="28575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>
          <a:xfrm>
            <a:off x="6553200" y="6356350"/>
            <a:ext cx="5198110" cy="365125"/>
          </a:xfrm>
        </p:spPr>
        <p:txBody>
          <a:bodyPr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09445" y="1330960"/>
            <a:ext cx="7531100" cy="5029200"/>
          </a:xfrm>
          <a:prstGeom prst="rect">
            <a:avLst/>
          </a:prstGeom>
        </p:spPr>
      </p:pic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>
          <a:xfrm>
            <a:off x="238125" y="6356350"/>
            <a:ext cx="8094980" cy="365125"/>
          </a:xfrm>
        </p:spPr>
        <p:txBody>
          <a:bodyPr/>
          <a:p>
            <a:r>
              <a:rPr lang="en-US"/>
              <a:t>[2] </a:t>
            </a:r>
            <a:r>
              <a:t>P. Khan et al., "Machine Learning and Deep Learning Approaches for Brain Disease Diagnosis: Principles and Recent Advances," in IEEE Access, vol. 9, pp. 37622-37655, 2021, doi: 10.1109/ACCESS.2021.3062484.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CF4"/>
        </a:solidFill>
        <a:effectLst/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p18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-1905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8"/>
          <p:cNvSpPr txBox="1"/>
          <p:nvPr/>
        </p:nvSpPr>
        <p:spPr>
          <a:xfrm>
            <a:off x="571500" y="1569491"/>
            <a:ext cx="5550693" cy="30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The Networked Organ</a:t>
            </a:r>
            <a:endParaRPr lang="en-US" sz="2000" b="1" i="0" u="none" strike="noStrike" cap="none">
              <a:solidFill>
                <a:srgbClr val="003366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60" name="Google Shape;160;p18"/>
          <p:cNvSpPr txBox="1"/>
          <p:nvPr/>
        </p:nvSpPr>
        <p:spPr>
          <a:xfrm>
            <a:off x="571500" y="1896110"/>
            <a:ext cx="6965950" cy="78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The brain functions through thousands of interconnected nodes working in concert.</a:t>
            </a:r>
            <a:endParaRPr lang="en-US" sz="1600" b="0" i="0" u="none" strike="noStrike" cap="none">
              <a:solidFill>
                <a:srgbClr val="1E293B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63" name="Google Shape;163;p18"/>
          <p:cNvSpPr txBox="1"/>
          <p:nvPr/>
        </p:nvSpPr>
        <p:spPr>
          <a:xfrm>
            <a:off x="571500" y="3704272"/>
            <a:ext cx="4905375" cy="3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sng" strike="noStrike" cap="non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Nodes:</a:t>
            </a:r>
            <a:r>
              <a:rPr lang="en-US" sz="1600" b="0" i="0" u="none" strike="noStrike" cap="non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Anatomical regions .</a:t>
            </a:r>
            <a:endParaRPr lang="en-US" sz="1600" b="0" i="0" u="none" strike="noStrike" cap="none">
              <a:solidFill>
                <a:srgbClr val="1E293B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65" name="Google Shape;165;p18"/>
          <p:cNvSpPr txBox="1"/>
          <p:nvPr/>
        </p:nvSpPr>
        <p:spPr>
          <a:xfrm>
            <a:off x="571500" y="3205767"/>
            <a:ext cx="4905375" cy="3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sng" strike="noStrike" cap="non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Edges:</a:t>
            </a:r>
            <a:r>
              <a:rPr lang="en-US" sz="1600" b="0" i="0" u="sng" strike="noStrike" cap="non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600" b="0" i="0" u="none" strike="noStrike" cap="non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Structural and functional pathways.</a:t>
            </a:r>
            <a:endParaRPr lang="en-US" sz="1600" b="0" i="0" u="none" strike="noStrike" cap="none">
              <a:solidFill>
                <a:srgbClr val="1E293B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67" name="Google Shape;167;p18"/>
          <p:cNvSpPr txBox="1"/>
          <p:nvPr/>
        </p:nvSpPr>
        <p:spPr>
          <a:xfrm>
            <a:off x="571500" y="4147820"/>
            <a:ext cx="6834505" cy="196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sng" strike="noStrike" cap="non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Connectome:</a:t>
            </a:r>
            <a:r>
              <a:rPr lang="en-US" sz="1600" b="0" i="0" u="sng" strike="noStrike" cap="non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600" b="0" i="0" u="none" strike="noStrike" cap="non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The complete map of neural links.</a:t>
            </a:r>
            <a:endParaRPr lang="en-US" sz="1600" b="0" i="0" u="none" strike="noStrike" cap="none">
              <a:solidFill>
                <a:srgbClr val="1E293B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600" b="1" i="0" u="sng" strike="noStrike" cap="non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Module:</a:t>
            </a:r>
            <a:r>
              <a:rPr lang="en-US" altLang="en-US" sz="1600" b="0" i="0" u="sng" strike="noStrike" cap="non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altLang="en-US" sz="1600" b="0" i="0" u="none" strike="noStrike" cap="non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A highly interconnected cluster of brain regions that group together to perform specialized neural functions.</a:t>
            </a:r>
            <a:endParaRPr lang="en-US" altLang="en-US" sz="1600" b="0" i="0" u="none" strike="noStrike" cap="none">
              <a:solidFill>
                <a:srgbClr val="1E293B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600" b="1" i="0" u="sng" strike="noStrike" cap="non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Connector Hub:</a:t>
            </a:r>
            <a:r>
              <a:rPr lang="en-US" altLang="en-US" sz="1600" b="0" i="0" u="none" strike="noStrike" cap="non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A high-traffic network node that links different modules together, coordinating global information flow across the brain.</a:t>
            </a:r>
            <a:endParaRPr lang="en-US" altLang="en-US" sz="1600" b="0" i="0" u="none" strike="noStrike" cap="none">
              <a:solidFill>
                <a:srgbClr val="1E293B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68" name="Google Shape;168;p18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The Brain: A Global Communication Hub</a:t>
            </a:r>
            <a:endParaRPr lang="en-US" sz="3300" b="1" i="0" u="none" strike="noStrike" cap="none">
              <a:solidFill>
                <a:srgbClr val="003366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69" name="Google Shape;169;p18"/>
          <p:cNvSpPr/>
          <p:nvPr/>
        </p:nvSpPr>
        <p:spPr>
          <a:xfrm>
            <a:off x="571500" y="1190625"/>
            <a:ext cx="11049000" cy="28575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6553200" y="6356350"/>
            <a:ext cx="5067300" cy="365125"/>
          </a:xfrm>
        </p:spPr>
        <p:txBody>
          <a:bodyPr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rcRect r="50304"/>
          <a:stretch>
            <a:fillRect/>
          </a:stretch>
        </p:blipFill>
        <p:spPr>
          <a:xfrm>
            <a:off x="7875905" y="1407160"/>
            <a:ext cx="3012440" cy="231648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rcRect l="50233"/>
          <a:stretch>
            <a:fillRect/>
          </a:stretch>
        </p:blipFill>
        <p:spPr>
          <a:xfrm>
            <a:off x="7875905" y="3886835"/>
            <a:ext cx="3012440" cy="2313305"/>
          </a:xfrm>
          <a:prstGeom prst="rect">
            <a:avLst/>
          </a:prstGeom>
        </p:spPr>
      </p:pic>
      <p:sp>
        <p:nvSpPr>
          <p:cNvPr id="1" name="Footer Placeholder 0"/>
          <p:cNvSpPr>
            <a:spLocks noGrp="1"/>
          </p:cNvSpPr>
          <p:nvPr>
            <p:ph type="ftr" idx="11"/>
          </p:nvPr>
        </p:nvSpPr>
        <p:spPr>
          <a:xfrm>
            <a:off x="572135" y="6356350"/>
            <a:ext cx="7832725" cy="365125"/>
          </a:xfrm>
        </p:spPr>
        <p:txBody>
          <a:bodyPr/>
          <a:p>
            <a:r>
              <a:t>https://www.researchgate.net/figure/Illustration-of-graph-theoretic-measures-In-the-context-of-brain-networks-in-this-study_fig1_353482746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CF4"/>
        </a:solidFill>
        <a:effectLst/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4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4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571500" y="2375594"/>
            <a:ext cx="3492549" cy="313551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4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4349799" y="2375594"/>
            <a:ext cx="3492549" cy="313551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4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8128099" y="2375594"/>
            <a:ext cx="3492549" cy="313551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>
            <a:off x="844231" y="3509069"/>
            <a:ext cx="2947087" cy="30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Vascular (Stroke)</a:t>
            </a:r>
            <a:endParaRPr lang="en-US" sz="2000" b="1" i="0" u="none" strike="noStrike" cap="none">
              <a:solidFill>
                <a:srgbClr val="003366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914400" y="3899594"/>
            <a:ext cx="2806749" cy="157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Sudden Oxygen deprivation causing sudden immediate structural death in specific lobes</a:t>
            </a:r>
            <a:endParaRPr lang="en-US" sz="1600" b="0" i="0" u="none" strike="noStrike" cap="none">
              <a:solidFill>
                <a:srgbClr val="1E293B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98" name="Google Shape;98;p14"/>
          <p:cNvSpPr txBox="1"/>
          <p:nvPr/>
        </p:nvSpPr>
        <p:spPr>
          <a:xfrm>
            <a:off x="4622530" y="3509069"/>
            <a:ext cx="2947087" cy="30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Tumors/Lesions</a:t>
            </a:r>
            <a:endParaRPr lang="en-US" sz="2000" b="1" i="0" u="none" strike="noStrike" cap="none">
              <a:solidFill>
                <a:srgbClr val="003366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99" name="Google Shape;99;p14"/>
          <p:cNvSpPr txBox="1"/>
          <p:nvPr/>
        </p:nvSpPr>
        <p:spPr>
          <a:xfrm>
            <a:off x="4692699" y="3899594"/>
            <a:ext cx="2806749" cy="157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Physical mass effects displacing hralthy brain tissue and disrupting signaling</a:t>
            </a:r>
            <a:endParaRPr lang="en-US" sz="1600" b="0" i="0" u="none" strike="noStrike" cap="none">
              <a:solidFill>
                <a:srgbClr val="1E293B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00" name="Google Shape;100;p14"/>
          <p:cNvSpPr txBox="1"/>
          <p:nvPr/>
        </p:nvSpPr>
        <p:spPr>
          <a:xfrm>
            <a:off x="8400830" y="3509069"/>
            <a:ext cx="2947087" cy="30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Neurodegeneration</a:t>
            </a:r>
            <a:endParaRPr lang="en-US" sz="2000" b="1" i="0" u="none" strike="noStrike" cap="none">
              <a:solidFill>
                <a:srgbClr val="003366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01" name="Google Shape;101;p14"/>
          <p:cNvSpPr txBox="1"/>
          <p:nvPr/>
        </p:nvSpPr>
        <p:spPr>
          <a:xfrm>
            <a:off x="8470999" y="3899594"/>
            <a:ext cx="2806749" cy="118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Slow, silent netowrk colapse. Typical of Alzheimer’s and Parkinson’s disease.</a:t>
            </a:r>
            <a:endParaRPr lang="en-US" sz="1600" b="0" i="0" u="none" strike="noStrike" cap="none">
              <a:solidFill>
                <a:srgbClr val="1E293B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05" name="Google Shape;105;p14"/>
          <p:cNvSpPr txBox="1"/>
          <p:nvPr/>
        </p:nvSpPr>
        <p:spPr>
          <a:xfrm>
            <a:off x="571500" y="571500"/>
            <a:ext cx="11601450" cy="5073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When the Brain Falters</a:t>
            </a:r>
            <a:endParaRPr lang="en-US" sz="3300" b="1" i="0" u="none" strike="noStrike" cap="none">
              <a:solidFill>
                <a:srgbClr val="003366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06" name="Google Shape;106;p14"/>
          <p:cNvSpPr/>
          <p:nvPr/>
        </p:nvSpPr>
        <p:spPr>
          <a:xfrm>
            <a:off x="571500" y="1190625"/>
            <a:ext cx="11049000" cy="28575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81200" y="2743835"/>
            <a:ext cx="762635" cy="591185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80735" y="2901950"/>
            <a:ext cx="570865" cy="49593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48165" y="2727325"/>
            <a:ext cx="570230" cy="623570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4338</Words>
  <Application>WPS Presentation</Application>
  <PresentationFormat/>
  <Paragraphs>130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4" baseType="lpstr">
      <vt:lpstr>Arial</vt:lpstr>
      <vt:lpstr>SimSun</vt:lpstr>
      <vt:lpstr>Wingdings</vt:lpstr>
      <vt:lpstr>Arial</vt:lpstr>
      <vt:lpstr>Calibri</vt:lpstr>
      <vt:lpstr>Helvetica Neue</vt:lpstr>
      <vt:lpstr>Merriweather</vt:lpstr>
      <vt:lpstr>DM Sans</vt:lpstr>
      <vt:lpstr>Microsoft YaHei</vt:lpstr>
      <vt:lpstr>汉仪旗黑</vt:lpstr>
      <vt:lpstr>Arial Unicode MS</vt:lpstr>
      <vt:lpstr>Arial Bold</vt:lpstr>
      <vt:lpstr>宋体-简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aryan bharadwaj</cp:lastModifiedBy>
  <cp:revision>11</cp:revision>
  <dcterms:created xsi:type="dcterms:W3CDTF">2026-07-19T21:10:56Z</dcterms:created>
  <dcterms:modified xsi:type="dcterms:W3CDTF">2026-07-19T21:10:56Z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CC794D4B4E43882D2F153B6A6D79CC85_43</vt:lpwstr>
  </property>
  <property fmtid="{D5CDD505-2E9C-101B-9397-08002B2CF9AE}" pid="3" name="KSOProductBuildVer">
    <vt:lpwstr>1033-12.1.26015.26015</vt:lpwstr>
  </property>
</Properties>
</file>