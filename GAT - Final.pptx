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259" r:id="rId6"/>
    <p:sldId id="283" r:id="rId7"/>
    <p:sldId id="270" r:id="rId8"/>
    <p:sldId id="287" r:id="rId9"/>
    <p:sldId id="286" r:id="rId10"/>
    <p:sldId id="285" r:id="rId11"/>
    <p:sldId id="284" r:id="rId12"/>
    <p:sldId id="261" r:id="rId13"/>
    <p:sldId id="288" r:id="rId14"/>
    <p:sldId id="290" r:id="rId15"/>
    <p:sldId id="269" r:id="rId16"/>
    <p:sldId id="289" r:id="rId17"/>
    <p:sldId id="291" r:id="rId18"/>
    <p:sldId id="293" r:id="rId19"/>
    <p:sldId id="294" r:id="rId20"/>
    <p:sldId id="295" r:id="rId21"/>
  </p:sldIdLst>
  <p:sldSz cx="12192000" cy="6858000"/>
  <p:notesSz cx="6858000" cy="9144000"/>
  <p:embeddedFontLst>
    <p:embeddedFont>
      <p:font typeface="Merriweather"/>
      <p:regular r:id="rId25"/>
    </p:embeddedFont>
    <p:embeddedFont>
      <p:font typeface="DM Sans"/>
      <p:regular r:id="rId26"/>
    </p:embeddedFont>
    <p:embeddedFont>
      <p:font typeface="DejaVu Math TeX Gyre" panose="02000503000000000000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000000"/>
          </p15:clr>
        </p15:guide>
        <p15:guide id="2" pos="2827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36"/>
        <p:guide pos="282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https://www.who.int/news/item/14-03-2024-over-1-in-3-people-affected-by-neurological-conditions--the-leading-cause-of-illness-and-disability-worldwide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P. Khan et al., "Machine Learning and Deep Learning Approaches for Brain Disease Diagnosis: Principles and Recent Advances," in IEEE Access, vol. 9, pp. 37622-37655, 2021, doi: 10.1109/ACCESS.2021.3062484.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https://sdbif.org/whats-the-difference-between-all-the-different-head-scans/</a:t>
            </a:r>
            <a:endParaRPr lang="en-US" altLang="en-US"/>
          </a:p>
        </p:txBody>
      </p:sp>
      <p:sp>
        <p:nvSpPr>
          <p:cNvPr id="172" name="Google Shape;17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https://sdbif.org/whats-the-difference-between-all-the-different-head-scans/</a:t>
            </a:r>
            <a:endParaRPr lang="en-US" altLang="en-US"/>
          </a:p>
        </p:txBody>
      </p:sp>
      <p:sp>
        <p:nvSpPr>
          <p:cNvPr id="172" name="Google Shape;17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https://sdbif.org/whats-the-difference-between-all-the-different-head-scans/</a:t>
            </a:r>
            <a:endParaRPr lang="en-US" altLang="en-US"/>
          </a:p>
        </p:txBody>
      </p:sp>
      <p:sp>
        <p:nvSpPr>
          <p:cNvPr id="172" name="Google Shape;17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P. Khan et al., "Machine Learning and Deep Learning Approaches for Brain Disease Diagnosis: Principles and Recent Advances," in IEEE Access, vol. 9, pp. 37622-37655, 2021, doi: 10.1109/ACCESS.2021.3062484.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P. Khan et al., "Machine Learning and Deep Learning Approaches for Brain Disease Diagnosis: Principles and Recent Advances," in IEEE Access, vol. 9, pp. 37622-37655, 2021, doi: 10.1109/ACCESS.2021.3062484.</a:t>
            </a:r>
            <a:endParaRPr lang="en-US" altLang="en-US"/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https://medlineplus.gov/braindiseases.html</a:t>
            </a:r>
            <a:endParaRPr lang="en-US" altLang="en-US"/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https://www.researchgate.net/figure/Illustration-of-graph-theoretic-measures-In-the-context-of-brain-networks-in-this-study_fig1_353482746</a:t>
            </a:r>
            <a:endParaRPr lang="en-US" altLang="en-US"/>
          </a:p>
        </p:txBody>
      </p:sp>
      <p:sp>
        <p:nvSpPr>
          <p:cNvPr id="155" name="Google Shape;155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7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7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7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85461" y="2221259"/>
            <a:ext cx="8621077" cy="91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Medical Diagnosis</a:t>
            </a:r>
            <a:endParaRPr lang="en-US" sz="54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714625" y="3166020"/>
            <a:ext cx="6762750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- Aryan Bharadwaj</a:t>
            </a:r>
            <a:endParaRPr lang="en-US" sz="1950" b="0" i="0" u="none" strike="noStrike" cap="non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91037" y="4190851"/>
            <a:ext cx="3209925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Graph Neural Network Seminar</a:t>
            </a:r>
            <a:endParaRPr lang="en-US" sz="1350" b="1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82854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39140" y="1918335"/>
            <a:ext cx="10671175" cy="3980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>
                <a:sym typeface="+mn-ea"/>
              </a:rPr>
              <a:t>Diagnosis</a:t>
            </a:r>
            <a:endParaRPr lang="en-US" sz="2400">
              <a:sym typeface="+mn-ea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The Brain 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About the project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Results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85775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2683222"/>
            <a:ext cx="5524500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74%</a:t>
            </a:r>
            <a:endParaRPr lang="en-US" sz="10500" b="1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4016722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Global Deaths</a:t>
            </a:r>
            <a:endParaRPr lang="en-US" sz="1800" b="1" i="0" u="none" strike="noStrike" cap="non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4483447"/>
            <a:ext cx="5524500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attributed to non-communicable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chronic diseases </a:t>
            </a:r>
            <a:endParaRPr lang="en-US" sz="135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0" y="2683222"/>
            <a:ext cx="5524500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&gt;3B</a:t>
            </a:r>
            <a:endParaRPr lang="en-US" sz="10500" b="1" i="0" u="none" strike="noStrike" cap="none">
              <a:solidFill>
                <a:srgbClr val="0033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096000" y="4016722"/>
            <a:ext cx="55245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Neurological Cases</a:t>
            </a:r>
            <a:endParaRPr lang="en-US" sz="1800" b="1" i="0" u="none" strike="noStrike" cap="none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096000" y="4483447"/>
            <a:ext cx="5524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of people currently living with 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neurological condition worldwide.</a:t>
            </a:r>
            <a:endParaRPr lang="en-US" sz="135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Massive Global Burden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0865" y="6356350"/>
            <a:ext cx="8002905" cy="365125"/>
          </a:xfrm>
        </p:spPr>
        <p:txBody>
          <a:bodyPr/>
          <a:p>
            <a:r>
              <a:rPr lang="en-US"/>
              <a:t>[1] </a:t>
            </a:r>
            <a:r>
              <a:t>https://www.who.int/news/item/14-03-2024-over-1-in-3-people-affected-by-neurological-conditions--the-leading-cause-of-illness-and-disability-worldwide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Brain Diagnosis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6665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70865" y="1330960"/>
            <a:ext cx="11048365" cy="45231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 b="1" u="sng">
                <a:latin typeface="Arial Bold" panose="020B0704020202020204" charset="0"/>
                <a:cs typeface="Arial Bold" panose="020B0704020202020204" charset="0"/>
              </a:rPr>
              <a:t>Definition:</a:t>
            </a:r>
            <a:r>
              <a:rPr lang="en-US" altLang="zh-CN" sz="2400"/>
              <a:t> is the clinical process of identifying and evaluating pathological conditions affecting the central nervous system using automated computational tools, statistical models, and neuroimaging data.</a:t>
            </a:r>
            <a:endParaRPr lang="en-US" altLang="zh-CN" sz="2400"/>
          </a:p>
          <a:p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>
                <a:latin typeface="Arial Bold" panose="020B0704020202020204" charset="0"/>
                <a:cs typeface="Arial Bold" panose="020B0704020202020204" charset="0"/>
              </a:rPr>
              <a:t>Reduces Global Mortality:</a:t>
            </a:r>
            <a:r>
              <a:rPr lang="en-US" altLang="zh-CN" sz="2400"/>
              <a:t> Brain disorders account for a massive, continuously growing percentage of global deaths, by early detection</a:t>
            </a:r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/>
              <a:t>Manages Complex Pathologies:</a:t>
            </a:r>
            <a:r>
              <a:rPr lang="en-US" altLang="zh-CN" sz="2400" u="sng"/>
              <a:t> </a:t>
            </a:r>
            <a:r>
              <a:rPr lang="en-US" altLang="zh-CN" sz="2400"/>
              <a:t>Helps navigate complex, newly discovered variants of progressive neurological diseases.</a:t>
            </a:r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/>
              <a:t>Improves Clinical Accuracy:</a:t>
            </a:r>
            <a:r>
              <a:rPr lang="en-US" altLang="zh-CN" sz="2400"/>
              <a:t> Precision analysis reduces diagnostic human errors across highly subtle brain changes.</a:t>
            </a:r>
            <a:endParaRPr lang="en-US" altLang="zh-CN" sz="24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zh-CN" sz="2400" b="1" u="sng"/>
              <a:t>Enhances Patient Betterment:</a:t>
            </a:r>
            <a:r>
              <a:rPr lang="en-US" altLang="zh-CN" sz="2400" u="sng"/>
              <a:t> </a:t>
            </a:r>
            <a:r>
              <a:rPr lang="en-US" altLang="zh-CN" sz="2400"/>
              <a:t>Finding precise detection techniques directly elevates long-term healthcare outcomes and recovery.</a:t>
            </a:r>
            <a:endParaRPr lang="en-US" altLang="zh-CN" sz="240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571500" y="6356350"/>
            <a:ext cx="7761605" cy="365125"/>
          </a:xfrm>
        </p:spPr>
        <p:txBody>
          <a:bodyPr/>
          <a:p>
            <a:r>
              <a:rPr lang="en-US"/>
              <a:t>[2] </a:t>
            </a:r>
            <a:r>
              <a:t>P. Khan et al., "Machine Learning and Deep Learning Approaches for Brain Disease Diagnosis: Principles and Recent Advances," in IEEE Access, vol. 9, pp. 37622-37655, 2021, doi: 10.1109/ACCESS.2021.3062484.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97980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3400" b="1"/>
            </a:pPr>
            <a:r>
              <a:rPr lang="en-US" sz="3300">
                <a:solidFill>
                  <a:schemeClr val="bg2"/>
                </a:solidFill>
                <a:sym typeface="+mn-ea"/>
              </a:rPr>
              <a:t>Types of Scans</a:t>
            </a:r>
            <a:endParaRPr lang="en-US" sz="3300" b="1" i="0" u="none" strike="noStrike" cap="none">
              <a:solidFill>
                <a:schemeClr val="bg2"/>
              </a:solidFill>
              <a:latin typeface="Merriweather"/>
              <a:ea typeface="Merriweather"/>
              <a:cs typeface="Merriweather"/>
              <a:sym typeface="+mn-ea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1190625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405255"/>
            <a:ext cx="10527665" cy="31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sym typeface="+mn-ea"/>
              </a:rPr>
              <a:t>Medical scans are diagnostic tools used to visualize the inside of the body. The four primary types: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X-ray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CT Scan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MRI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Ultrasound 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PET</a:t>
            </a:r>
            <a:endParaRPr lang="en-US" altLang="en-US" sz="2400"/>
          </a:p>
          <a:p>
            <a:pPr marL="457200" indent="-457200">
              <a:spcAft>
                <a:spcPts val="1000"/>
              </a:spcAft>
              <a:buFont typeface="+mj-lt"/>
              <a:buAutoNum type="romanLcPeriod"/>
              <a:defRPr sz="2400"/>
            </a:pPr>
            <a:r>
              <a:rPr lang="en-US" altLang="en-US" sz="2400"/>
              <a:t>NIR</a:t>
            </a:r>
            <a:endParaRPr lang="en-US" altLang="en-US" sz="24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5466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730875" y="2561590"/>
            <a:ext cx="5085080" cy="379476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691515" y="6356350"/>
            <a:ext cx="8822055" cy="365125"/>
          </a:xfrm>
        </p:spPr>
        <p:txBody>
          <a:bodyPr/>
          <a:p>
            <a:r>
              <a:rPr lang="en-US"/>
              <a:t>[3] </a:t>
            </a:r>
            <a:r>
              <a:t>https://sdbif.org/whats-the-difference-between-all-the-different-head-scans/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97980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3400" b="1"/>
            </a:pPr>
            <a:r>
              <a:rPr lang="en-US" sz="3300">
                <a:solidFill>
                  <a:schemeClr val="bg2"/>
                </a:solidFill>
                <a:sym typeface="+mn-ea"/>
              </a:rPr>
              <a:t>Types of Data </a:t>
            </a:r>
            <a:endParaRPr lang="en-US" sz="3300" b="1" i="0" u="none" strike="noStrike" cap="none">
              <a:solidFill>
                <a:schemeClr val="bg2"/>
              </a:solidFill>
              <a:latin typeface="Merriweather"/>
              <a:ea typeface="Merriweather"/>
              <a:cs typeface="Merriweather"/>
              <a:sym typeface="+mn-ea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1190625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405255"/>
            <a:ext cx="10527665" cy="31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Structural High-Resolution Images (sMRI):</a:t>
            </a:r>
            <a:r>
              <a:rPr lang="en-US" altLang="en-US" sz="2000"/>
              <a:t> 3D spatial tissue volumes mapping anatomical integrity, cortical thickness, and structural atrophy.</a:t>
            </a:r>
            <a:endParaRPr lang="en-US" altLang="en-US" sz="20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Functional Signal Time-Series(fMRI):</a:t>
            </a:r>
            <a:r>
              <a:rPr lang="en-US" altLang="en-US" sz="2000"/>
              <a:t> 4D blood-oxygenation (BOLD) or electrical potential fluctuations tracking active neural communication over time.</a:t>
            </a:r>
            <a:endParaRPr lang="en-US" altLang="en-US" sz="20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Diffusion &amp; Tractography Data (DTI/dMRI):</a:t>
            </a:r>
            <a:r>
              <a:rPr lang="en-US" altLang="en-US" sz="2000"/>
              <a:t> Microstructural water diffusion trajectories tracing white matter physical wiring and axonal fiber bundles.</a:t>
            </a:r>
            <a:endParaRPr lang="en-US" altLang="en-US" sz="20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Multimodal Tabular Clinical Data (EEG):</a:t>
            </a:r>
            <a:r>
              <a:rPr lang="en-US" altLang="en-US" sz="2000"/>
              <a:t> Combined phenotypic metrics, demographic profiles, cognitive battery test scores, and patient medical histories.</a:t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5466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691515" y="6356350"/>
            <a:ext cx="8822055" cy="365125"/>
          </a:xfrm>
        </p:spPr>
        <p:txBody>
          <a:bodyPr/>
          <a:p>
            <a:r>
              <a:rPr lang="en-US"/>
              <a:t>[3]</a:t>
            </a:r>
            <a:r>
              <a:rPr lang="en-US" altLang="en-US"/>
              <a:t>https://pmc.ncbi.nlm.nih.gov/articles/PMC10406264/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97980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3400" b="1"/>
            </a:pPr>
            <a:r>
              <a:rPr lang="en-US" sz="3300" b="1" i="0" u="none" strike="noStrike" cap="none">
                <a:solidFill>
                  <a:schemeClr val="bg2"/>
                </a:solidFill>
                <a:latin typeface="Merriweather"/>
                <a:ea typeface="Merriweather"/>
                <a:cs typeface="Merriweather"/>
                <a:sym typeface="+mn-ea"/>
              </a:rPr>
              <a:t>Why do we analyze?</a:t>
            </a:r>
            <a:endParaRPr lang="en-US" sz="3300" b="1" i="0" u="none" strike="noStrike" cap="none">
              <a:solidFill>
                <a:schemeClr val="bg2"/>
              </a:solidFill>
              <a:latin typeface="Merriweather"/>
              <a:ea typeface="Merriweather"/>
              <a:cs typeface="Merriweather"/>
              <a:sym typeface="+mn-ea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1190625"/>
            <a:ext cx="4953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405255"/>
            <a:ext cx="10527665" cy="31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Sociodemographic &amp; Behavioral Data:</a:t>
            </a:r>
            <a:r>
              <a:rPr lang="en-US" altLang="en-US" sz="1800"/>
              <a:t> General background variables including age, sex, socioeconomic markers, and critical health behaviors (e.g., sleep patterns, diet, and lifestyle habits).</a:t>
            </a:r>
            <a:endParaRPr lang="en-US" altLang="en-US" sz="18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Clinical Medical History: </a:t>
            </a:r>
            <a:r>
              <a:rPr lang="en-US" altLang="en-US" sz="1800"/>
              <a:t>Comprehensive records tracking personal medical histories, physical health examinations, and specific disease-related symptoms.</a:t>
            </a:r>
            <a:endParaRPr lang="en-US" altLang="en-US" sz="18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Cognitive &amp; Psychological Assessments: </a:t>
            </a:r>
            <a:r>
              <a:rPr lang="en-US" altLang="en-US" sz="1800"/>
              <a:t>Standardized neurocognitive test scores alongside tracking scales for depression, behavioral changes, psychological updates, and caregiver burden.</a:t>
            </a:r>
            <a:endParaRPr lang="en-US" altLang="en-US" sz="180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Char char="•"/>
            </a:pPr>
            <a:r>
              <a:rPr lang="en-US" altLang="en-US" sz="1800" b="1" u="sng">
                <a:latin typeface="Arial Bold" panose="020B0704020202020204" charset="0"/>
                <a:cs typeface="Arial Bold" panose="020B0704020202020204" charset="0"/>
              </a:rPr>
              <a:t>Biomarkers &amp; Lab Diagnostics:</a:t>
            </a:r>
            <a:r>
              <a:rPr lang="en-US" altLang="en-US" sz="1800"/>
              <a:t> Laboratory results gathered from direct physical processing, including comprehensive blood panels and sensory assessment data (such as olfactory performance tests).</a:t>
            </a:r>
            <a:endParaRPr lang="en-US" altLang="en-US" sz="180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704020202020204" pitchFamily="34" charset="0"/>
              <a:buNone/>
            </a:pPr>
            <a:endParaRPr lang="en-US" altLang="en-US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4545965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691515" y="6356350"/>
            <a:ext cx="7796530" cy="365125"/>
          </a:xfrm>
        </p:spPr>
        <p:txBody>
          <a:bodyPr/>
          <a:p>
            <a:r>
              <a:rPr lang="en-US" altLang="en-US"/>
              <a:t>[4] https://pmc.ncbi.nlm.nih.gov/articles/PMC12727072/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Why Machine Learning?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19811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238125" y="6356350"/>
            <a:ext cx="8094980" cy="365125"/>
          </a:xfrm>
        </p:spPr>
        <p:txBody>
          <a:bodyPr/>
          <a:p>
            <a:r>
              <a:rPr lang="en-US"/>
              <a:t>[2] </a:t>
            </a:r>
            <a:r>
              <a:t>P. Khan et al., "Machine Learning and Deep Learning Approaches for Brain Disease Diagnosis: Principles and Recent Advances," in IEEE Access, vol. 9, pp. 37622-37655, 2021, doi: 10.1109/ACCESS.2021.3062484.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71500" y="1398905"/>
            <a:ext cx="1104836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Processes Massive Dimensions:</a:t>
            </a:r>
            <a:r>
              <a:rPr lang="en-US" altLang="en-US" sz="2200"/>
              <a:t> Computes millions of complex neuroimaging voxels simultaneously, surpassing human capability.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Detects Hidden Patterns</a:t>
            </a:r>
            <a:r>
              <a:rPr lang="en-US" altLang="en-US" sz="2200" u="sng"/>
              <a:t>: </a:t>
            </a:r>
            <a:r>
              <a:rPr lang="en-US" altLang="en-US" sz="2200"/>
              <a:t>Identifies subtle, non-linear structural variations years before physical symptoms appear, </a:t>
            </a:r>
            <a:r>
              <a:rPr lang="en-US" altLang="en-US" sz="2200">
                <a:sym typeface="+mn-ea"/>
              </a:rPr>
              <a:t>allowing faster, life-saving therapeutic interventions.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200" u="sng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Eliminates Human Subjectivity:</a:t>
            </a:r>
            <a:r>
              <a:rPr lang="en-US" altLang="en-US" sz="2200"/>
              <a:t> Provides objective, automated diagnostic recommendations to eliminate fatigue and clinical bias.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200" b="1" u="sng">
                <a:latin typeface="Arial Bold" panose="020B0704020202020204" charset="0"/>
                <a:cs typeface="Arial Bold" panose="020B0704020202020204" charset="0"/>
              </a:rPr>
              <a:t>Tracks Interconnected Dynamics:</a:t>
            </a:r>
            <a:r>
              <a:rPr lang="en-US" altLang="en-US" sz="2200"/>
              <a:t> Maps complex, widespread network disruptions rather than isolated regional damage.</a:t>
            </a:r>
            <a:endParaRPr lang="en-US" altLang="en-US" sz="22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Brain Diagnosis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19811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445" y="1330960"/>
            <a:ext cx="7531100" cy="50292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238125" y="6356350"/>
            <a:ext cx="8094980" cy="365125"/>
          </a:xfrm>
        </p:spPr>
        <p:txBody>
          <a:bodyPr/>
          <a:p>
            <a:r>
              <a:rPr lang="en-US"/>
              <a:t>[2] </a:t>
            </a:r>
            <a:r>
              <a:t>P. Khan et al., "Machine Learning and Deep Learning Approaches for Brain Disease Diagnosis: Principles and Recent Advances," in IEEE Access, vol. 9, pp. 37622-37655, 2021, doi: 10.1109/ACCESS.2021.3062484.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1569491"/>
            <a:ext cx="5550693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Networked Organ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1896110"/>
            <a:ext cx="696595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brain functions through thousands of interconnected nodes working in concert.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360737"/>
            <a:ext cx="4905375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Nodes(V):</a:t>
            </a: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Anatomical regions.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Node Feature Vectors (X): </a:t>
            </a:r>
            <a:r>
              <a:rPr lang="en-US" alt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Local ROI attributes</a:t>
            </a:r>
            <a:endParaRPr lang="en-US" alt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2967007"/>
            <a:ext cx="49053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Edges(E):</a:t>
            </a:r>
            <a:r>
              <a:rPr lang="en-US" sz="1600" b="0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Structural and functional pathways.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4147820"/>
            <a:ext cx="6834505" cy="19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Connectome:</a:t>
            </a:r>
            <a:r>
              <a:rPr lang="en-US" sz="1600" b="0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complete map of neural links.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Module:</a:t>
            </a:r>
            <a:r>
              <a:rPr lang="en-US" altLang="en-US" sz="1600" b="0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alt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highly interconnected cluster of brain regions that group together to perform specialized neural functions.</a:t>
            </a:r>
            <a:endParaRPr lang="en-US" alt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600" b="1" i="0" u="sng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Connector Hub:</a:t>
            </a:r>
            <a:r>
              <a:rPr lang="en-US" alt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 high-traffic network node that links different modules together, coordinating global information flow across the brain.</a:t>
            </a:r>
            <a:endParaRPr lang="en-US" alt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The Brain: A Global Communication Hub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50304"/>
          <a:stretch>
            <a:fillRect/>
          </a:stretch>
        </p:blipFill>
        <p:spPr>
          <a:xfrm>
            <a:off x="7875905" y="1407160"/>
            <a:ext cx="3012440" cy="2316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0233"/>
          <a:stretch>
            <a:fillRect/>
          </a:stretch>
        </p:blipFill>
        <p:spPr>
          <a:xfrm>
            <a:off x="7875905" y="3886835"/>
            <a:ext cx="3012440" cy="231330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7832725" cy="365125"/>
          </a:xfrm>
        </p:spPr>
        <p:txBody>
          <a:bodyPr/>
          <a:p>
            <a:r>
              <a:t>https://www.researchgate.net/figure/Illustration-of-graph-theoretic-measures-In-the-context-of-brain-networks-in-this-study_fig1_353482746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Graph construction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7832725" cy="365125"/>
          </a:xfrm>
        </p:spPr>
        <p:txBody>
          <a:bodyPr/>
          <a:p>
            <a:r>
              <a:rPr lang="en-US" altLang="en-US"/>
              <a:t>Mohammadi, H., &amp; Karwowski, W. (2025). Graph Neural Networks in Brain Connectivity Studies: Methods, Challenges, and Future Directions. Brain Sciences, 15(1), 17. https://doi.org/10.3390/brainsci15010017</a:t>
            </a:r>
            <a:endParaRPr lang="en-US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0" y="1513205"/>
            <a:ext cx="7969250" cy="4264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Graph construction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7832725" cy="365125"/>
          </a:xfrm>
        </p:spPr>
        <p:txBody>
          <a:bodyPr/>
          <a:p>
            <a:r>
              <a:rPr lang="en-US" altLang="en-US"/>
              <a:t>Mohammadi, H., &amp; Karwowski, W. (2025). Graph Neural Networks in Brain Connectivity Studies: Methods, Challenges, and Future Directions. Brain Sciences, 15(1), 17. https://doi.org/10.3390/brainsci15010017</a:t>
            </a:r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666115" y="1587500"/>
            <a:ext cx="1095438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Multi-Modal Data Ingestion: </a:t>
            </a:r>
            <a:r>
              <a:rPr lang="en-US" altLang="en-US" sz="2000"/>
              <a:t>Accepts diverse raw brain scan modalities including fMRI (functional), EEG (electrical), DTI (structural wiring), or multi-modal combinations.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Parcellation &amp; Node Definition:</a:t>
            </a:r>
            <a:r>
              <a:rPr lang="en-US" altLang="en-US" sz="2000"/>
              <a:t> Maps 3D brain regions or sensor sites as graph nodes (V).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 b="1" u="sng"/>
              <a:t>Connectivity </a:t>
            </a: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Matrix Generation:</a:t>
            </a:r>
            <a:r>
              <a:rPr lang="en-US" altLang="en-US" sz="2000" b="1" u="sng"/>
              <a:t> </a:t>
            </a:r>
            <a:r>
              <a:rPr lang="en-US" altLang="en-US" sz="2000"/>
              <a:t>Computes inter-regional correlation or structural strength matrices to establish edges (E) and modular networks.Node 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Feature Matrix Construction: </a:t>
            </a:r>
            <a:r>
              <a:rPr lang="en-US" altLang="en-US" sz="2000"/>
              <a:t>Extracts feature vectors for each region to generate a high-dimensional node embedding matrix </a:t>
            </a:r>
            <a:endParaRPr lang="en-US" altLang="en-US" sz="2000"/>
          </a:p>
        </p:txBody>
      </p:sp>
      <p:sp>
        <p:nvSpPr>
          <p:cNvPr id="2" name="Text Box 1"/>
          <p:cNvSpPr txBox="1"/>
          <p:nvPr/>
        </p:nvSpPr>
        <p:spPr>
          <a:xfrm>
            <a:off x="5379022" y="4287774"/>
            <a:ext cx="309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5210112" y="4287774"/>
                <a:ext cx="1259840" cy="3225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𝑋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𝑁∗𝑑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112" y="4287774"/>
                <a:ext cx="1259840" cy="322580"/>
              </a:xfrm>
              <a:prstGeom prst="rect">
                <a:avLst/>
              </a:prstGeom>
              <a:blipFill rotWithShape="1">
                <a:blip r:embed="rId2"/>
                <a:stretch>
                  <a:fillRect l="-45" t="-79" r="45" b="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75594"/>
            <a:ext cx="3492549" cy="313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799" y="2375594"/>
            <a:ext cx="3492549" cy="313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8099" y="2375594"/>
            <a:ext cx="3492549" cy="31355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44231" y="3509069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Vascular (Stroke)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899594"/>
            <a:ext cx="280674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Sudden Oxygen deprivation causing sudden immediate structural death in specific lobes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622530" y="3509069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Tumors/Lesions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692699" y="3899594"/>
            <a:ext cx="2806749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Physical mass effects displacing hralthy brain tissue and disrupting signaling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400830" y="3509069"/>
            <a:ext cx="2947087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Neurodegeneration</a:t>
            </a:r>
            <a:endParaRPr lang="en-US" sz="20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470999" y="3899594"/>
            <a:ext cx="2806749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Slow, silent netowrk colapse. Typical of Alzheimer’s and Parkinson’s disease.</a:t>
            </a:r>
            <a:endParaRPr lang="en-US" sz="1600" b="0" i="0" u="none" strike="noStrike" cap="non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When the Brain Falters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743835"/>
            <a:ext cx="762635" cy="59118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0735" y="2901950"/>
            <a:ext cx="570865" cy="4959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8165" y="2727325"/>
            <a:ext cx="570230" cy="6235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136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8547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Paper 1</a:t>
            </a:r>
            <a:endParaRPr lang="en-US" alt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9896475" cy="365125"/>
          </a:xfrm>
        </p:spPr>
        <p:txBody>
          <a:bodyPr/>
          <a:p>
            <a:r>
              <a:rPr lang="en-US" altLang="en-US"/>
              <a:t>https://www.sciencedirect.com/science/article/pii/S1053811923003646?__cf_chl_tk=vgSfN1WQ9jvat7jhlyZMIPy6c25hywCKtz01MFHUpcc-1784980710-1.0.1.1-B47VuSRoIGOpBdG6R8pSrOlub_g1RdtaCS00M2eg7jY</a:t>
            </a:r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666115" y="1190625"/>
            <a:ext cx="1095438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Font typeface="Arial" panose="020B0704020202020204" pitchFamily="34" charset="0"/>
              <a:buNone/>
            </a:pPr>
            <a:r>
              <a:rPr lang="en-US" altLang="en-US" sz="2000" b="1" u="sng">
                <a:solidFill>
                  <a:schemeClr val="tx1"/>
                </a:solidFill>
                <a:latin typeface="Merriweather"/>
                <a:ea typeface="Merriweather"/>
                <a:cs typeface="Merriweather"/>
                <a:sym typeface="Merriweather"/>
              </a:rPr>
              <a:t>Name : Generalizing prediction of task-evoked brain activity across datasets and populations</a:t>
            </a:r>
            <a:endParaRPr lang="en-US" altLang="en-US" sz="2000" b="1" i="0" u="sng" strike="noStrike" cap="none">
              <a:solidFill>
                <a:schemeClr val="tx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indent="0">
              <a:buFont typeface="Arial" panose="020B0704020202020204" pitchFamily="34" charset="0"/>
              <a:buNone/>
            </a:pP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Introduction &amp; Motivation: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Evaluates deep learning frameworks applied to brain functional connectivity (FC) derived from fMRI scans.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Investigates whether Graph Neural Networks (GNNs) learn personalized topological patterns or rely on group-level statistical averages.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Formulated Prediction Tasks: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Classification: Predicting binary/multiclass clinical status (e.g., Alzheimer's Disease vs. Healthy Control).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Regression: Estimating continuous behavioral and cognitive phenotypes (e.g., fluid intelligence score, chronological age).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136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Graph construction</a:t>
            </a:r>
            <a:endParaRPr 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479540"/>
            <a:ext cx="10612120" cy="365125"/>
          </a:xfrm>
        </p:spPr>
        <p:txBody>
          <a:bodyPr/>
          <a:p>
            <a:r>
              <a:rPr lang="en-US" altLang="en-US"/>
              <a:t>https://www.sciencedirect.com/science/article/pii/S1053811923003646?__cf_chl_tk=vgSfN1WQ9jvat7jhlyZMIPy6c25hywCKtz01MFHUpcc-1784980710-1.0.1.1-B47VuSRoIGOpBdG6R8pSrOlub_g1RdtaCS00M2eg7jY</a:t>
            </a:r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666115" y="1190625"/>
            <a:ext cx="109543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  <a:sym typeface="+mn-ea"/>
              </a:rPr>
              <a:t>Main Results &amp; Findings: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sym typeface="+mn-ea"/>
              </a:rPr>
              <a:t>GNNs successfully capture non-linear, higher-order topological interactions across functional brain networks.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>
                <a:sym typeface="+mn-ea"/>
              </a:rPr>
              <a:t>Models significantly outperform traditional kernel/linear baselines (e.g., SVMs) while confirming that individual-specific connectivity signatures are retained rather than lost to group-average noise.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145" y="2757170"/>
            <a:ext cx="6111240" cy="37223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136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8547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Paper 2</a:t>
            </a:r>
            <a:endParaRPr lang="en-US" alt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9896475" cy="365125"/>
          </a:xfrm>
        </p:spPr>
        <p:txBody>
          <a:bodyPr/>
          <a:p>
            <a:r>
              <a:rPr lang="en-US" altLang="en-US"/>
              <a:t>Sharma, A., Sharma, A. and Guo, K., 2025. Intelligent medical diagnosis model based on graph neural networks for medical images. CAAI Transactions on Intelligence Technology, 10(4), pp.1201-1216.</a:t>
            </a:r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666115" y="1190625"/>
            <a:ext cx="10954385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Font typeface="Wingdings" panose="05000000000000000000" charset="0"/>
              <a:buNone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Name: Intelligent medical diagnosis model based on graph neural networks for medical images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Introduction &amp; Problem Statement: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 altLang="en-US" sz="2000"/>
              <a:t>Addresses the limitation of standard CNNs/ANNs that rely on regular grid-like inputs, whereas physiological brain data exhibits non-euclidean, irregular patterns.</a:t>
            </a:r>
            <a:endParaRPr lang="en-US" altLang="en-US" sz="2000"/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 altLang="en-US" sz="2000"/>
              <a:t>Proposes a GNN framework that models brain structures as interactive nodes connected by anatomical and temporal edges.</a:t>
            </a:r>
            <a:endParaRPr lang="en-US" altLang="en-US" sz="2000"/>
          </a:p>
          <a:p>
            <a:pPr marL="342900" indent="-342900">
              <a:buFont typeface="Wingdings" panose="05000000000000000000" charset="0"/>
              <a:buChar char=""/>
            </a:pPr>
            <a:endParaRPr lang="en-US" altLang="en-US" sz="2000"/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Methodology &amp; Architecture: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Graph Construction:</a:t>
            </a:r>
            <a:r>
              <a:rPr lang="en-US" altLang="en-US" sz="2000"/>
              <a:t> Structural GNN designed to explicitly differentiate structural changes and disease impact across the left and right brain hemispheres.</a:t>
            </a:r>
            <a:endParaRPr lang="en-US" altLang="en-US" sz="2000"/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Multimodal Integration:</a:t>
            </a:r>
            <a:r>
              <a:rPr lang="en-US" altLang="en-US" sz="2000"/>
              <a:t> Integrates underlying spatial imaging features with demographic clinical metadata.</a:t>
            </a:r>
            <a:endParaRPr lang="en-US" altLang="en-US" sz="2000"/>
          </a:p>
          <a:p>
            <a:pPr marL="800100" lvl="1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Multi-Task Formulation:</a:t>
            </a:r>
            <a:r>
              <a:rPr lang="en-US" altLang="en-US" sz="2000"/>
              <a:t> Simultaneously performs Classification (detecting severity degrees) and Regression (estimating continuous disease indices).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136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8547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Paper 2</a:t>
            </a:r>
            <a:endParaRPr lang="en-US" alt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9896475" cy="365125"/>
          </a:xfrm>
        </p:spPr>
        <p:txBody>
          <a:bodyPr/>
          <a:p>
            <a:r>
              <a:rPr lang="en-US" altLang="en-US"/>
              <a:t>Sharma, A., Sharma, A. and Guo, K., 2025. Intelligent medical diagnosis model based on graph neural networks for medical images. CAAI Transactions on Intelligence Technology, 10(4), pp.1201-1216.</a:t>
            </a:r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666115" y="1190625"/>
            <a:ext cx="1095438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Experimental Dataset &amp; Results:</a:t>
            </a:r>
            <a:endParaRPr lang="en-US" altLang="en-US" sz="2000" b="1" u="sng">
              <a:latin typeface="Arial Bold" panose="020B0704020202020204" charset="0"/>
              <a:cs typeface="Arial Bold" panose="020B0704020202020204" charset="0"/>
            </a:endParaRPr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/>
              <a:t>Evaluated on a real dataset of 800 medical brain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image cases (560 moderate, 240 severe).</a:t>
            </a:r>
            <a:endParaRPr lang="en-US" altLang="en-US" sz="2000"/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Classification Performance:</a:t>
            </a:r>
            <a:r>
              <a:rPr lang="en-US" altLang="en-US" sz="2000"/>
              <a:t>Achieved a top 92.27%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AUC, outperforming baseline models.</a:t>
            </a:r>
            <a:endParaRPr lang="en-US" altLang="en-US" sz="2000"/>
          </a:p>
          <a:p>
            <a:pPr marL="342900" indent="-342900">
              <a:buFont typeface="Wingdings" panose="05000000000000000000" charset="0"/>
              <a:buChar char=""/>
            </a:pPr>
            <a:r>
              <a:rPr lang="en-US" altLang="en-US" sz="2000" b="1" u="sng">
                <a:latin typeface="Arial Bold" panose="020B0704020202020204" charset="0"/>
                <a:cs typeface="Arial Bold" panose="020B0704020202020204" charset="0"/>
              </a:rPr>
              <a:t>Regression Performance:</a:t>
            </a:r>
            <a:r>
              <a:rPr lang="en-US" altLang="en-US" sz="2000"/>
              <a:t>Achieved a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0.62 correlation coefficient(r), validating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strong predictive alignment for </a:t>
            </a:r>
            <a:endParaRPr lang="en-US" altLang="en-US" sz="2000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 sz="2000"/>
              <a:t>continuous outputs.</a:t>
            </a:r>
            <a:endParaRPr lang="en-US" altLang="en-US" sz="2000"/>
          </a:p>
          <a:p>
            <a:pPr marL="0" indent="0">
              <a:buFont typeface="Arial" panose="020B0704020202020204" pitchFamily="34" charset="0"/>
              <a:buNone/>
            </a:pPr>
            <a:endParaRPr lang="en-US" altLang="en-US" sz="2000"/>
          </a:p>
          <a:p>
            <a:pPr marL="0" indent="0">
              <a:buFont typeface="Arial" panose="020B0704020202020204" pitchFamily="34" charset="0"/>
              <a:buNone/>
            </a:pPr>
            <a:endParaRPr lang="en-US" altLang="en-US" sz="2000"/>
          </a:p>
          <a:p>
            <a:pPr marL="0" indent="0">
              <a:buFont typeface="Arial" panose="020B0704020202020204" pitchFamily="34" charset="0"/>
              <a:buNone/>
            </a:pPr>
            <a:endParaRPr lang="en-US" altLang="en-US" sz="20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10" y="2519680"/>
            <a:ext cx="6257290" cy="34639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4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9050" y="-136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571500" y="585470"/>
            <a:ext cx="11601450" cy="507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3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</a:t>
            </a:r>
            <a:endParaRPr lang="en-US" altLang="en-US" sz="3300" b="1" i="0" u="none" strike="noStrike" cap="none">
              <a:solidFill>
                <a:srgbClr val="003366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5067300" cy="365125"/>
          </a:xfrm>
        </p:spPr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572135" y="6356350"/>
            <a:ext cx="9896475" cy="365125"/>
          </a:xfrm>
        </p:spPr>
        <p:txBody>
          <a:bodyPr/>
          <a:p>
            <a:endParaRPr lang="en-US" altLang="en-US"/>
          </a:p>
        </p:txBody>
      </p:sp>
      <p:sp>
        <p:nvSpPr>
          <p:cNvPr id="1" name="Text Box 0"/>
          <p:cNvSpPr txBox="1"/>
          <p:nvPr/>
        </p:nvSpPr>
        <p:spPr>
          <a:xfrm>
            <a:off x="666115" y="1190625"/>
            <a:ext cx="1095438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Neurological disorders affect over three billion people worldwide, creating a massive health burden.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Diagnostic data includes neuroimaging scans and clinical markers like cognitive assessments.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Brain networks model anatomical regions as nodes and structural or functional pathways as edges.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GNN pipelines process multimodal connectivity matrices to generate classification or regression outputs.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Research shows GNNs outperform SVMs by capturing non-linear topological brain interactions.</a:t>
            </a: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en-US" altLang="en-US" sz="200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 sz="2000"/>
              <a:t>A featured GNN model achieved a 92.27% AUC for medical brain image classification.</a:t>
            </a:r>
            <a:endParaRPr lang="en-US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9534</Words>
  <Application>WPS Presentation</Application>
  <PresentationFormat/>
  <Paragraphs>246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Helvetica Neue</vt:lpstr>
      <vt:lpstr>Merriweather</vt:lpstr>
      <vt:lpstr>DM Sans</vt:lpstr>
      <vt:lpstr>Arial Bold</vt:lpstr>
      <vt:lpstr>Microsoft YaHei</vt:lpstr>
      <vt:lpstr>汉仪旗黑</vt:lpstr>
      <vt:lpstr>Arial Unicode MS</vt:lpstr>
      <vt:lpstr>宋体-简</vt:lpstr>
      <vt:lpstr>Wingdings</vt:lpstr>
      <vt:lpstr>Google Sans Text</vt:lpstr>
      <vt:lpstr>Thonburi</vt:lpstr>
      <vt:lpstr>DejaVu Math TeX Gyre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aryan bharadwaj</cp:lastModifiedBy>
  <cp:revision>13</cp:revision>
  <dcterms:created xsi:type="dcterms:W3CDTF">2026-07-25T12:23:08Z</dcterms:created>
  <dcterms:modified xsi:type="dcterms:W3CDTF">2026-07-25T12:23:08Z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B374E28920C9BB693AAA646A5BF02075_43</vt:lpwstr>
  </property>
  <property fmtid="{D5CDD505-2E9C-101B-9397-08002B2CF9AE}" pid="3" name="KSOProductBuildVer">
    <vt:lpwstr>1033-12.1.26015.26015</vt:lpwstr>
  </property>
</Properties>
</file>